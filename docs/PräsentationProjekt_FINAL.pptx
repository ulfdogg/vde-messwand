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1"/>
  </p:notesMasterIdLst>
  <p:sldIdLst>
    <p:sldId id="2147480280" r:id="rId5"/>
    <p:sldId id="2147480281" r:id="rId6"/>
    <p:sldId id="269" r:id="rId7"/>
    <p:sldId id="287" r:id="rId8"/>
    <p:sldId id="272" r:id="rId9"/>
    <p:sldId id="2147480282" r:id="rId10"/>
    <p:sldId id="2147480283" r:id="rId17"/>
    <p:sldId id="2147480284" r:id="rId18"/>
    <p:sldId id="2147480285" r:id="rId19"/>
    <p:sldId id="2147480286" r:id="rId20"/>
    <p:sldId id="2147480287" r:id="rId21"/>
    <p:sldId id="2147480288" r:id="rId22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696583-1374-435C-AA08-0684C8FF5583}" v="24" dt="2026-03-24T19:13:26.0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91" autoAdjust="0"/>
    <p:restoredTop sz="94347" autoAdjust="0"/>
  </p:normalViewPr>
  <p:slideViewPr>
    <p:cSldViewPr>
      <p:cViewPr>
        <p:scale>
          <a:sx n="50" d="100"/>
          <a:sy n="50" d="100"/>
        </p:scale>
        <p:origin x="702" y="2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5/10/relationships/revisionInfo" Target="revisionInfo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EA265B-51EA-4D3E-8BBC-3C32B4F1124F}" type="datetimeFigureOut">
              <a:rPr lang="de-DE" smtClean="0"/>
              <a:t>26.03.2026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726BD-A5E1-49BA-A8C0-D60E38D1FC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9755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Freeform 7"/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04799" y="419100"/>
            <a:ext cx="4984982" cy="1010341"/>
          </a:xfrm>
          <a:custGeom>
            <a:avLst/>
            <a:gdLst/>
            <a:ahLst/>
            <a:cxnLst/>
            <a:rect l="l" t="t" r="r" b="b"/>
            <a:pathLst>
              <a:path w="4984982" h="1010341">
                <a:moveTo>
                  <a:pt x="0" y="0"/>
                </a:moveTo>
                <a:lnTo>
                  <a:pt x="4984982" y="0"/>
                </a:lnTo>
                <a:lnTo>
                  <a:pt x="4984982" y="1010340"/>
                </a:lnTo>
                <a:lnTo>
                  <a:pt x="0" y="1010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jpeg"/><Relationship Id="rId4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7AD624C8-9E2B-D995-8D2A-9A893699FF4B}"/>
              </a:ext>
            </a:extLst>
          </p:cNvPr>
          <p:cNvSpPr/>
          <p:nvPr/>
        </p:nvSpPr>
        <p:spPr>
          <a:xfrm>
            <a:off x="609600" y="2095500"/>
            <a:ext cx="10134600" cy="28956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0" dirty="0">
                <a:solidFill>
                  <a:schemeClr val="bg1"/>
                </a:solidFill>
              </a:rPr>
              <a:t>VDE Messwand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1DE0CD2-1222-919D-D5D7-C67C2F884FA3}"/>
              </a:ext>
            </a:extLst>
          </p:cNvPr>
          <p:cNvSpPr txBox="1"/>
          <p:nvPr/>
        </p:nvSpPr>
        <p:spPr>
          <a:xfrm>
            <a:off x="0" y="6286500"/>
            <a:ext cx="114109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Präsentiert von </a:t>
            </a:r>
          </a:p>
          <a:p>
            <a:pPr algn="ctr"/>
            <a:endParaRPr lang="de-DE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DE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DE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DE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     Ulf Grätz		                 Arno Watermann 		Johannes Bischof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F07382F-8BBB-5C49-A4E9-C9A7CB6148A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9200" y="2095500"/>
            <a:ext cx="4415379" cy="7237275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49831184-F869-7C35-B13A-97E3454EA9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4169" y="573225"/>
            <a:ext cx="2059460" cy="762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1E24A-5EA3-6683-51DF-6CC7F3305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325C44E9-3FF7-6C44-1E4E-DCBFC5CBFF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4169" y="573225"/>
            <a:ext cx="2059460" cy="762000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F47F3BA7-3624-BE90-BEED-42147E720BB1}"/>
              </a:ext>
            </a:extLst>
          </p:cNvPr>
          <p:cNvSpPr/>
          <p:nvPr/>
        </p:nvSpPr>
        <p:spPr>
          <a:xfrm>
            <a:off x="457200" y="1638300"/>
            <a:ext cx="8686800" cy="1219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5400" b="1" dirty="0"/>
              <a:t>Inhalt der Projektvorstellung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488A334-077F-CD3F-8EDC-8BF1F20C11F9}"/>
              </a:ext>
            </a:extLst>
          </p:cNvPr>
          <p:cNvSpPr txBox="1"/>
          <p:nvPr/>
        </p:nvSpPr>
        <p:spPr>
          <a:xfrm>
            <a:off x="457200" y="3086100"/>
            <a:ext cx="12039600" cy="689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de-DE" sz="4400" b="1" dirty="0"/>
              <a:t>Auftraggeber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de-DE" sz="4400" b="1" dirty="0"/>
              <a:t>Betreuung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de-DE" sz="4400" b="1" dirty="0"/>
              <a:t>Rahmenbedingungen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de-DE" sz="4400" b="1" dirty="0"/>
              <a:t>Erste Versuche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de-DE" sz="4400" b="1" dirty="0"/>
              <a:t>Verbesserungen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de-DE" sz="4400" b="1" dirty="0"/>
              <a:t>Kostenaufwand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de-DE" sz="4400" b="1" dirty="0"/>
              <a:t>Endprodukt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de-DE" sz="4400" b="1" dirty="0"/>
              <a:t>Entwicklungsmöglichkeiten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de-DE" sz="4400" b="1" dirty="0"/>
              <a:t>Fazit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de-DE" sz="2800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193731C-09BB-4107-B280-8818A2393A0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9200" y="2095500"/>
            <a:ext cx="4415379" cy="723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0013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48BBE-0B52-1CF0-61E8-D03E1A412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>
            <a:extLst>
              <a:ext uri="{FF2B5EF4-FFF2-40B4-BE49-F238E27FC236}">
                <a16:creationId xmlns:a16="http://schemas.microsoft.com/office/drawing/2014/main" id="{E78BB78B-58B9-44BD-3AAB-CA81BDF34352}"/>
              </a:ext>
            </a:extLst>
          </p:cNvPr>
          <p:cNvSpPr txBox="1"/>
          <p:nvPr/>
        </p:nvSpPr>
        <p:spPr>
          <a:xfrm>
            <a:off x="1143000" y="6180891"/>
            <a:ext cx="7662803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spcBef>
                <a:spcPct val="0"/>
              </a:spcBef>
            </a:pPr>
            <a:r>
              <a:rPr lang="en-US" sz="4800" b="1" spc="-84" dirty="0">
                <a:solidFill>
                  <a:srgbClr val="FFFFFF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UNSERE AUSBILDUNGS-</a:t>
            </a:r>
          </a:p>
          <a:p>
            <a:pPr marL="0" lvl="0" indent="0" algn="l">
              <a:spcBef>
                <a:spcPct val="0"/>
              </a:spcBef>
            </a:pPr>
            <a:r>
              <a:rPr lang="en-US" sz="4800" b="1" spc="-84" dirty="0">
                <a:solidFill>
                  <a:srgbClr val="FFFFFF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BERUFE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3363FB1-1D47-56E7-60F4-0192B8B2A3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4169" y="573225"/>
            <a:ext cx="2059460" cy="762000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BFDBB84D-5855-AAA5-8382-0E364EBD2456}"/>
              </a:ext>
            </a:extLst>
          </p:cNvPr>
          <p:cNvSpPr/>
          <p:nvPr/>
        </p:nvSpPr>
        <p:spPr>
          <a:xfrm>
            <a:off x="457200" y="1638300"/>
            <a:ext cx="8686800" cy="1219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5400" b="1" dirty="0"/>
              <a:t>Auftraggeber</a:t>
            </a:r>
          </a:p>
        </p:txBody>
      </p:sp>
    </p:spTree>
    <p:extLst>
      <p:ext uri="{BB962C8B-B14F-4D97-AF65-F5344CB8AC3E}">
        <p14:creationId xmlns:p14="http://schemas.microsoft.com/office/powerpoint/2010/main" val="35124763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2000">
        <p159:morph option="byObject"/>
      </p:transition>
    </mc:Choice>
    <mc:Fallback xmlns="">
      <p:transition spd="slow" advClick="0" advTm="2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60FA8-417F-49A5-9FFA-5B36ADB8F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>
            <a:extLst>
              <a:ext uri="{FF2B5EF4-FFF2-40B4-BE49-F238E27FC236}">
                <a16:creationId xmlns:a16="http://schemas.microsoft.com/office/drawing/2014/main" id="{8AF64DC0-674A-1155-BA7C-43787D8CD8CA}"/>
              </a:ext>
            </a:extLst>
          </p:cNvPr>
          <p:cNvGrpSpPr/>
          <p:nvPr/>
        </p:nvGrpSpPr>
        <p:grpSpPr>
          <a:xfrm flipH="1">
            <a:off x="457200" y="3811536"/>
            <a:ext cx="762000" cy="5715000"/>
            <a:chOff x="0" y="0"/>
            <a:chExt cx="2422340" cy="652347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3B578C25-0DF3-6854-8782-31E7BA71BA68}"/>
                </a:ext>
              </a:extLst>
            </p:cNvPr>
            <p:cNvSpPr/>
            <p:nvPr/>
          </p:nvSpPr>
          <p:spPr>
            <a:xfrm>
              <a:off x="0" y="0"/>
              <a:ext cx="2422340" cy="652347"/>
            </a:xfrm>
            <a:custGeom>
              <a:avLst/>
              <a:gdLst/>
              <a:ahLst/>
              <a:cxnLst/>
              <a:rect l="l" t="t" r="r" b="b"/>
              <a:pathLst>
                <a:path w="2422340" h="652347">
                  <a:moveTo>
                    <a:pt x="0" y="0"/>
                  </a:moveTo>
                  <a:lnTo>
                    <a:pt x="2422340" y="0"/>
                  </a:lnTo>
                  <a:lnTo>
                    <a:pt x="2422340" y="652347"/>
                  </a:lnTo>
                  <a:lnTo>
                    <a:pt x="0" y="6523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de-DE" dirty="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EFD7F7D-0BB8-B2EB-BBDF-EF40BBECC40F}"/>
                </a:ext>
              </a:extLst>
            </p:cNvPr>
            <p:cNvSpPr txBox="1"/>
            <p:nvPr/>
          </p:nvSpPr>
          <p:spPr>
            <a:xfrm>
              <a:off x="0" y="-19050"/>
              <a:ext cx="2422340" cy="671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1C523AC8-14B9-7E59-1E4C-A99B06457EE4}"/>
              </a:ext>
            </a:extLst>
          </p:cNvPr>
          <p:cNvSpPr txBox="1"/>
          <p:nvPr/>
        </p:nvSpPr>
        <p:spPr>
          <a:xfrm rot="16200000">
            <a:off x="-2088297" y="6050083"/>
            <a:ext cx="5867400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spcBef>
                <a:spcPct val="0"/>
              </a:spcBef>
            </a:pPr>
            <a:r>
              <a:rPr lang="en-US" sz="5400" b="1" spc="-84" dirty="0">
                <a:solidFill>
                  <a:srgbClr val="FFFFFF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ELOTECHNIKUM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37989F53-BDCD-F0C5-4467-AE43E4E98C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356" y="3659136"/>
            <a:ext cx="8435744" cy="6019800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C6FD0B08-F6BB-1A7E-1F30-ADF6D1E9E435}"/>
              </a:ext>
            </a:extLst>
          </p:cNvPr>
          <p:cNvSpPr/>
          <p:nvPr/>
        </p:nvSpPr>
        <p:spPr>
          <a:xfrm>
            <a:off x="10744200" y="1638300"/>
            <a:ext cx="6934200" cy="323646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E66A2A1-7DCE-2B00-0A4E-9CB633EC8561}"/>
              </a:ext>
            </a:extLst>
          </p:cNvPr>
          <p:cNvSpPr txBox="1"/>
          <p:nvPr/>
        </p:nvSpPr>
        <p:spPr>
          <a:xfrm>
            <a:off x="10925007" y="1526920"/>
            <a:ext cx="6134558" cy="3347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400" b="1" dirty="0">
                <a:solidFill>
                  <a:schemeClr val="bg1"/>
                </a:solidFill>
                <a:latin typeface="Arial" panose="020B0604020202020204" pitchFamily="34" charset="0"/>
                <a:ea typeface="Open Sans Bold" pitchFamily="2" charset="0"/>
                <a:cs typeface="Arial" panose="020B0604020202020204" pitchFamily="34" charset="0"/>
              </a:rPr>
              <a:t>Eigenes Bildungszentrum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400" b="1" dirty="0">
                <a:solidFill>
                  <a:schemeClr val="bg1"/>
                </a:solidFill>
                <a:latin typeface="Arial" panose="020B0604020202020204" pitchFamily="34" charset="0"/>
                <a:ea typeface="Open Sans Bold" pitchFamily="2" charset="0"/>
                <a:cs typeface="Arial" panose="020B0604020202020204" pitchFamily="34" charset="0"/>
              </a:rPr>
              <a:t>Eröffnet 2019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400" b="1" dirty="0" err="1">
                <a:solidFill>
                  <a:schemeClr val="bg1"/>
                </a:solidFill>
                <a:latin typeface="Arial" panose="020B0604020202020204" pitchFamily="34" charset="0"/>
                <a:ea typeface="Open Sans Bold" pitchFamily="2" charset="0"/>
                <a:cs typeface="Arial" panose="020B0604020202020204" pitchFamily="34" charset="0"/>
              </a:rPr>
              <a:t>InterWerkstatttagene</a:t>
            </a:r>
            <a:r>
              <a:rPr lang="de-DE" sz="2400" b="1" dirty="0">
                <a:solidFill>
                  <a:schemeClr val="bg1"/>
                </a:solidFill>
                <a:latin typeface="Arial" panose="020B0604020202020204" pitchFamily="34" charset="0"/>
                <a:ea typeface="Open Sans Bold" pitchFamily="2" charset="0"/>
                <a:cs typeface="Arial" panose="020B0604020202020204" pitchFamily="34" charset="0"/>
              </a:rPr>
              <a:t> Schulungen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400" b="1" dirty="0">
                <a:solidFill>
                  <a:schemeClr val="bg1"/>
                </a:solidFill>
                <a:latin typeface="Arial" panose="020B0604020202020204" pitchFamily="34" charset="0"/>
                <a:ea typeface="Open Sans Bold" pitchFamily="2" charset="0"/>
                <a:cs typeface="Arial" panose="020B0604020202020204" pitchFamily="34" charset="0"/>
              </a:rPr>
              <a:t> (Ausbildung)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400" b="1" dirty="0">
                <a:solidFill>
                  <a:schemeClr val="bg1"/>
                </a:solidFill>
                <a:latin typeface="Arial" panose="020B0604020202020204" pitchFamily="34" charset="0"/>
                <a:ea typeface="Open Sans Bold" pitchFamily="2" charset="0"/>
                <a:cs typeface="Arial" panose="020B0604020202020204" pitchFamily="34" charset="0"/>
              </a:rPr>
              <a:t>Großes Forum mit Platz für 150 Personen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17DB588-F1AE-210F-68A1-776C870A4A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200" y="5296751"/>
            <a:ext cx="6934200" cy="4382185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8FC7E0EF-0534-1CF1-3007-332A89DC7FB1}"/>
              </a:ext>
            </a:extLst>
          </p:cNvPr>
          <p:cNvSpPr/>
          <p:nvPr/>
        </p:nvSpPr>
        <p:spPr>
          <a:xfrm>
            <a:off x="457200" y="1638300"/>
            <a:ext cx="8686800" cy="1219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5400" b="1" dirty="0"/>
              <a:t>Auftraggeber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F8A8ECE-DC82-BDEC-9F14-C969341F13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4169" y="573225"/>
            <a:ext cx="205946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8748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Click="0" advTm="8000">
        <p159:morph option="byObject"/>
      </p:transition>
    </mc:Choice>
    <mc:Fallback xmlns="">
      <p:transition spd="slow" advClick="0" advTm="8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BAAA7-99E0-DEBC-8011-79F266B0F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88E02899-239B-C7B1-2876-42A22B0680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4169" y="573225"/>
            <a:ext cx="2059460" cy="762000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A12B1E1E-23A3-E533-BB48-2B50AE50ED97}"/>
              </a:ext>
            </a:extLst>
          </p:cNvPr>
          <p:cNvSpPr/>
          <p:nvPr/>
        </p:nvSpPr>
        <p:spPr>
          <a:xfrm>
            <a:off x="457200" y="1638300"/>
            <a:ext cx="8686800" cy="1219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5400" b="1" dirty="0"/>
              <a:t>Betreuung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3A2CFBD-C8E8-102C-ED83-053015DB51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8285" y="1638300"/>
            <a:ext cx="5978294" cy="4266148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A9F456CD-9ACE-115A-4C06-05A85AB469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8285" y="6207523"/>
            <a:ext cx="5997344" cy="3506252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CFC9FEA3-BC24-7E4D-763A-8EA31E7C94CF}"/>
              </a:ext>
            </a:extLst>
          </p:cNvPr>
          <p:cNvSpPr txBox="1"/>
          <p:nvPr/>
        </p:nvSpPr>
        <p:spPr>
          <a:xfrm>
            <a:off x="457200" y="3848100"/>
            <a:ext cx="89916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ELOMECH:</a:t>
            </a:r>
          </a:p>
          <a:p>
            <a:r>
              <a:rPr lang="de-DE" sz="2400" b="1" dirty="0"/>
              <a:t>Jannick </a:t>
            </a:r>
            <a:r>
              <a:rPr lang="de-DE" sz="2400" b="1" dirty="0" err="1"/>
              <a:t>Schophaus</a:t>
            </a:r>
            <a:endParaRPr lang="de-DE" sz="2400" b="1" dirty="0"/>
          </a:p>
          <a:p>
            <a:endParaRPr lang="de-DE" sz="2400" b="1" dirty="0"/>
          </a:p>
          <a:p>
            <a:endParaRPr lang="de-DE" sz="2400" b="1" dirty="0"/>
          </a:p>
          <a:p>
            <a:endParaRPr lang="de-DE" sz="2400" b="1" dirty="0"/>
          </a:p>
          <a:p>
            <a:endParaRPr lang="de-DE" sz="2400" b="1" dirty="0"/>
          </a:p>
          <a:p>
            <a:r>
              <a:rPr lang="de-DE" sz="2400" b="1" dirty="0"/>
              <a:t>HNBK:</a:t>
            </a:r>
          </a:p>
          <a:p>
            <a:r>
              <a:rPr lang="de-DE" sz="2400" b="1" dirty="0"/>
              <a:t>Korsch</a:t>
            </a:r>
          </a:p>
        </p:txBody>
      </p:sp>
    </p:spTree>
    <p:extLst>
      <p:ext uri="{BB962C8B-B14F-4D97-AF65-F5344CB8AC3E}">
        <p14:creationId xmlns:p14="http://schemas.microsoft.com/office/powerpoint/2010/main" val="9860779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2000">
        <p159:morph option="byObject"/>
      </p:transition>
    </mc:Choice>
    <mc:Fallback xmlns="">
      <p:transition spd="slow" advClick="0" advTm="2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0E9845BC-B645-0812-E3E2-C3649B2C1109}"/>
              </a:ext>
            </a:extLst>
          </p:cNvPr>
          <p:cNvSpPr/>
          <p:nvPr/>
        </p:nvSpPr>
        <p:spPr>
          <a:xfrm>
            <a:off x="476250" y="8444645"/>
            <a:ext cx="6074508" cy="8720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" name="Group 8">
            <a:extLst>
              <a:ext uri="{FF2B5EF4-FFF2-40B4-BE49-F238E27FC236}">
                <a16:creationId xmlns:a16="http://schemas.microsoft.com/office/drawing/2014/main" id="{1379FC16-07E4-985D-1DA6-20E9E5923AD3}"/>
              </a:ext>
            </a:extLst>
          </p:cNvPr>
          <p:cNvGrpSpPr/>
          <p:nvPr/>
        </p:nvGrpSpPr>
        <p:grpSpPr>
          <a:xfrm>
            <a:off x="457200" y="3268275"/>
            <a:ext cx="11697192" cy="1219199"/>
            <a:chOff x="0" y="0"/>
            <a:chExt cx="2422340" cy="652347"/>
          </a:xfrm>
        </p:grpSpPr>
        <p:sp>
          <p:nvSpPr>
            <p:cNvPr id="5" name="Freeform 9">
              <a:extLst>
                <a:ext uri="{FF2B5EF4-FFF2-40B4-BE49-F238E27FC236}">
                  <a16:creationId xmlns:a16="http://schemas.microsoft.com/office/drawing/2014/main" id="{45636C49-032E-1472-0828-966FF9F53712}"/>
                </a:ext>
              </a:extLst>
            </p:cNvPr>
            <p:cNvSpPr/>
            <p:nvPr/>
          </p:nvSpPr>
          <p:spPr>
            <a:xfrm>
              <a:off x="0" y="0"/>
              <a:ext cx="2422340" cy="652347"/>
            </a:xfrm>
            <a:custGeom>
              <a:avLst/>
              <a:gdLst/>
              <a:ahLst/>
              <a:cxnLst/>
              <a:rect l="l" t="t" r="r" b="b"/>
              <a:pathLst>
                <a:path w="2422340" h="652347">
                  <a:moveTo>
                    <a:pt x="0" y="0"/>
                  </a:moveTo>
                  <a:lnTo>
                    <a:pt x="2422340" y="0"/>
                  </a:lnTo>
                  <a:lnTo>
                    <a:pt x="2422340" y="652347"/>
                  </a:lnTo>
                  <a:lnTo>
                    <a:pt x="0" y="6523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de-DE" dirty="0"/>
            </a:p>
          </p:txBody>
        </p:sp>
        <p:sp>
          <p:nvSpPr>
            <p:cNvPr id="6" name="TextBox 10">
              <a:extLst>
                <a:ext uri="{FF2B5EF4-FFF2-40B4-BE49-F238E27FC236}">
                  <a16:creationId xmlns:a16="http://schemas.microsoft.com/office/drawing/2014/main" id="{6511B842-CB25-1AD4-3238-3BC14E294A55}"/>
                </a:ext>
              </a:extLst>
            </p:cNvPr>
            <p:cNvSpPr txBox="1"/>
            <p:nvPr/>
          </p:nvSpPr>
          <p:spPr>
            <a:xfrm>
              <a:off x="0" y="-19050"/>
              <a:ext cx="2422340" cy="671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7" name="TextBox 11">
            <a:extLst>
              <a:ext uri="{FF2B5EF4-FFF2-40B4-BE49-F238E27FC236}">
                <a16:creationId xmlns:a16="http://schemas.microsoft.com/office/drawing/2014/main" id="{5B8F1CDA-04AD-0503-B255-0822D898128D}"/>
              </a:ext>
            </a:extLst>
          </p:cNvPr>
          <p:cNvSpPr txBox="1"/>
          <p:nvPr/>
        </p:nvSpPr>
        <p:spPr>
          <a:xfrm>
            <a:off x="850400" y="3317345"/>
            <a:ext cx="11303992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spcBef>
                <a:spcPct val="0"/>
              </a:spcBef>
            </a:pPr>
            <a:r>
              <a:rPr lang="en-US" sz="3200" b="1" spc="-84" dirty="0">
                <a:solidFill>
                  <a:srgbClr val="FFFFFF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AUFGABEN ELEKTRONIKER FÜR ENERGIE - &amp; GEBÄUDETECHNIK (m/w/d)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52A3A244-60BE-791B-87A5-C6826717A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5177465"/>
            <a:ext cx="9677400" cy="2793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Elektronische Ausstattung von Gebäuden</a:t>
            </a:r>
            <a:endParaRPr lang="de-DE" alt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de-DE" altLang="de-DE" sz="2400" dirty="0">
                <a:latin typeface="Arial" panose="020B0604020202020204" pitchFamily="34" charset="0"/>
                <a:cs typeface="Arial" panose="020B0604020202020204" pitchFamily="34" charset="0"/>
              </a:rPr>
              <a:t>Installation von Licht- und Stromanlagen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de-DE" altLang="de-DE" sz="2400" dirty="0">
                <a:latin typeface="Arial" panose="020B0604020202020204" pitchFamily="34" charset="0"/>
                <a:cs typeface="Arial" panose="020B0604020202020204" pitchFamily="34" charset="0"/>
              </a:rPr>
              <a:t>Planung der elektrischen Versorgung von Gebäuden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de-DE" altLang="de-DE" sz="2400" dirty="0">
                <a:latin typeface="Arial" panose="020B0604020202020204" pitchFamily="34" charset="0"/>
                <a:cs typeface="Arial" panose="020B0604020202020204" pitchFamily="34" charset="0"/>
              </a:rPr>
              <a:t>Umsetzung von Installationsarbeiten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de-DE" altLang="de-DE" sz="2400" dirty="0">
                <a:latin typeface="Arial" panose="020B0604020202020204" pitchFamily="34" charset="0"/>
                <a:cs typeface="Arial" panose="020B0604020202020204" pitchFamily="34" charset="0"/>
              </a:rPr>
              <a:t>Wartung und Überprüfung elektrischer Anlagen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C34C0A7-D777-2053-BB8A-361F079CEBA1}"/>
              </a:ext>
            </a:extLst>
          </p:cNvPr>
          <p:cNvSpPr txBox="1"/>
          <p:nvPr/>
        </p:nvSpPr>
        <p:spPr>
          <a:xfrm>
            <a:off x="654049" y="8444645"/>
            <a:ext cx="5680810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altLang="de-DE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Praktische Ausbildung im Ausbildungszentrum &amp;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altLang="de-DE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Einsatz auf Baustellen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D15F4F5-37E1-9098-BCE1-306D0F5A98D8}"/>
              </a:ext>
            </a:extLst>
          </p:cNvPr>
          <p:cNvSpPr/>
          <p:nvPr/>
        </p:nvSpPr>
        <p:spPr>
          <a:xfrm>
            <a:off x="457200" y="1638300"/>
            <a:ext cx="8686800" cy="1219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5400" b="1" dirty="0"/>
              <a:t>Rahmenbedingungen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FE3A38BD-473C-B7FD-5265-7868F6B8EC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4169" y="573225"/>
            <a:ext cx="2059460" cy="7620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E7AB517A-9934-756F-920F-11EE1F5B0D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30" t="-386" r="34050" b="386"/>
          <a:stretch>
            <a:fillRect/>
          </a:stretch>
        </p:blipFill>
        <p:spPr>
          <a:xfrm>
            <a:off x="13496980" y="1638300"/>
            <a:ext cx="3646640" cy="826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883837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0E9845BC-B645-0812-E3E2-C3649B2C1109}"/>
              </a:ext>
            </a:extLst>
          </p:cNvPr>
          <p:cNvSpPr/>
          <p:nvPr/>
        </p:nvSpPr>
        <p:spPr>
          <a:xfrm>
            <a:off x="476250" y="8444645"/>
            <a:ext cx="6074508" cy="8720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" name="Group 8">
            <a:extLst>
              <a:ext uri="{FF2B5EF4-FFF2-40B4-BE49-F238E27FC236}">
                <a16:creationId xmlns:a16="http://schemas.microsoft.com/office/drawing/2014/main" id="{1379FC16-07E4-985D-1DA6-20E9E5923AD3}"/>
              </a:ext>
            </a:extLst>
          </p:cNvPr>
          <p:cNvGrpSpPr/>
          <p:nvPr/>
        </p:nvGrpSpPr>
        <p:grpSpPr>
          <a:xfrm>
            <a:off x="457200" y="3268275"/>
            <a:ext cx="11697192" cy="1219199"/>
            <a:chOff x="0" y="0"/>
            <a:chExt cx="2422340" cy="652347"/>
          </a:xfrm>
        </p:grpSpPr>
        <p:sp>
          <p:nvSpPr>
            <p:cNvPr id="5" name="Freeform 9">
              <a:extLst>
                <a:ext uri="{FF2B5EF4-FFF2-40B4-BE49-F238E27FC236}">
                  <a16:creationId xmlns:a16="http://schemas.microsoft.com/office/drawing/2014/main" id="{45636C49-032E-1472-0828-966FF9F53712}"/>
                </a:ext>
              </a:extLst>
            </p:cNvPr>
            <p:cNvSpPr/>
            <p:nvPr/>
          </p:nvSpPr>
          <p:spPr>
            <a:xfrm>
              <a:off x="0" y="0"/>
              <a:ext cx="2422340" cy="652347"/>
            </a:xfrm>
            <a:custGeom>
              <a:avLst/>
              <a:gdLst/>
              <a:ahLst/>
              <a:cxnLst/>
              <a:rect l="l" t="t" r="r" b="b"/>
              <a:pathLst>
                <a:path w="2422340" h="652347">
                  <a:moveTo>
                    <a:pt x="0" y="0"/>
                  </a:moveTo>
                  <a:lnTo>
                    <a:pt x="2422340" y="0"/>
                  </a:lnTo>
                  <a:lnTo>
                    <a:pt x="2422340" y="652347"/>
                  </a:lnTo>
                  <a:lnTo>
                    <a:pt x="0" y="6523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de-DE" dirty="0"/>
            </a:p>
          </p:txBody>
        </p:sp>
        <p:sp>
          <p:nvSpPr>
            <p:cNvPr id="6" name="TextBox 10">
              <a:extLst>
                <a:ext uri="{FF2B5EF4-FFF2-40B4-BE49-F238E27FC236}">
                  <a16:creationId xmlns:a16="http://schemas.microsoft.com/office/drawing/2014/main" id="{6511B842-CB25-1AD4-3238-3BC14E294A55}"/>
                </a:ext>
              </a:extLst>
            </p:cNvPr>
            <p:cNvSpPr txBox="1"/>
            <p:nvPr/>
          </p:nvSpPr>
          <p:spPr>
            <a:xfrm>
              <a:off x="0" y="-19050"/>
              <a:ext cx="2422340" cy="671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7" name="TextBox 11">
            <a:extLst>
              <a:ext uri="{FF2B5EF4-FFF2-40B4-BE49-F238E27FC236}">
                <a16:creationId xmlns:a16="http://schemas.microsoft.com/office/drawing/2014/main" id="{5B8F1CDA-04AD-0503-B255-0822D898128D}"/>
              </a:ext>
            </a:extLst>
          </p:cNvPr>
          <p:cNvSpPr txBox="1"/>
          <p:nvPr/>
        </p:nvSpPr>
        <p:spPr>
          <a:xfrm>
            <a:off x="850400" y="3317345"/>
            <a:ext cx="11303992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spcBef>
                <a:spcPct val="0"/>
              </a:spcBef>
            </a:pPr>
            <a:r>
              <a:rPr b="1" sz="3200"/>
              <a:t>ERSTE VERSUCHE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52A3A244-60BE-791B-87A5-C6826717A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5177465"/>
            <a:ext cx="9677400" cy="2793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b="0" sz="2400"/>
              <a:t>Grundlegende Flask-Webanwendung mit hardcodierten Relais-Werten</a:t>
            </a:r>
          </a:p>
          <a:p>
            <a:r>
              <a:rPr b="0" sz="2400"/>
              <a:t>Manuelle Zuordnung der 64 Relais zu Prüfszenarien per Code</a:t>
            </a:r>
          </a:p>
          <a:p>
            <a:r>
              <a:rPr b="0" sz="2400"/>
              <a:t>Kiosk-Modus: Mehrere Ansätze erprobt (labwc Autostart vs. systemd Service)</a:t>
            </a:r>
          </a:p>
          <a:p>
            <a:r>
              <a:rPr b="0" sz="2400"/>
              <a:t>Display-Rotation: 270°-Einstellung über wlr-randr erarbeitet</a:t>
            </a:r>
          </a:p>
          <a:p>
            <a:r>
              <a:rPr b="0" sz="2400"/>
              <a:t>Serielle Modbus RTU Kommunikation eingerichtet und getestet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C34C0A7-D777-2053-BB8A-361F079CEBA1}"/>
              </a:ext>
            </a:extLst>
          </p:cNvPr>
          <p:cNvSpPr txBox="1"/>
          <p:nvPr/>
        </p:nvSpPr>
        <p:spPr>
          <a:xfrm>
            <a:off x="654049" y="8444645"/>
            <a:ext cx="5680810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b="1"/>
              <a:t>Iteratives Vorgehen: Ausprobieren und schrittweise verbessern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altLang="de-DE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D15F4F5-37E1-9098-BCE1-306D0F5A98D8}"/>
              </a:ext>
            </a:extLst>
          </p:cNvPr>
          <p:cNvSpPr/>
          <p:nvPr/>
        </p:nvSpPr>
        <p:spPr>
          <a:xfrm>
            <a:off x="457200" y="1638300"/>
            <a:ext cx="8686800" cy="1219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5400" b="1" dirty="0"/>
              <a:t>Erste Versuche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FE3A38BD-473C-B7FD-5265-7868F6B8EC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4169" y="573225"/>
            <a:ext cx="2059460" cy="7620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E7AB517A-9934-756F-920F-11EE1F5B0D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30" t="-386" r="34050" b="386"/>
          <a:stretch>
            <a:fillRect/>
          </a:stretch>
        </p:blipFill>
        <p:spPr>
          <a:xfrm>
            <a:off x="13496980" y="1638300"/>
            <a:ext cx="3646640" cy="8267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0E9845BC-B645-0812-E3E2-C3649B2C1109}"/>
              </a:ext>
            </a:extLst>
          </p:cNvPr>
          <p:cNvSpPr/>
          <p:nvPr/>
        </p:nvSpPr>
        <p:spPr>
          <a:xfrm>
            <a:off x="476250" y="8444645"/>
            <a:ext cx="6074508" cy="8720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" name="Group 8">
            <a:extLst>
              <a:ext uri="{FF2B5EF4-FFF2-40B4-BE49-F238E27FC236}">
                <a16:creationId xmlns:a16="http://schemas.microsoft.com/office/drawing/2014/main" id="{1379FC16-07E4-985D-1DA6-20E9E5923AD3}"/>
              </a:ext>
            </a:extLst>
          </p:cNvPr>
          <p:cNvGrpSpPr/>
          <p:nvPr/>
        </p:nvGrpSpPr>
        <p:grpSpPr>
          <a:xfrm>
            <a:off x="457200" y="3268275"/>
            <a:ext cx="11697192" cy="1219199"/>
            <a:chOff x="0" y="0"/>
            <a:chExt cx="2422340" cy="652347"/>
          </a:xfrm>
        </p:grpSpPr>
        <p:sp>
          <p:nvSpPr>
            <p:cNvPr id="5" name="Freeform 9">
              <a:extLst>
                <a:ext uri="{FF2B5EF4-FFF2-40B4-BE49-F238E27FC236}">
                  <a16:creationId xmlns:a16="http://schemas.microsoft.com/office/drawing/2014/main" id="{45636C49-032E-1472-0828-966FF9F53712}"/>
                </a:ext>
              </a:extLst>
            </p:cNvPr>
            <p:cNvSpPr/>
            <p:nvPr/>
          </p:nvSpPr>
          <p:spPr>
            <a:xfrm>
              <a:off x="0" y="0"/>
              <a:ext cx="2422340" cy="652347"/>
            </a:xfrm>
            <a:custGeom>
              <a:avLst/>
              <a:gdLst/>
              <a:ahLst/>
              <a:cxnLst/>
              <a:rect l="l" t="t" r="r" b="b"/>
              <a:pathLst>
                <a:path w="2422340" h="652347">
                  <a:moveTo>
                    <a:pt x="0" y="0"/>
                  </a:moveTo>
                  <a:lnTo>
                    <a:pt x="2422340" y="0"/>
                  </a:lnTo>
                  <a:lnTo>
                    <a:pt x="2422340" y="652347"/>
                  </a:lnTo>
                  <a:lnTo>
                    <a:pt x="0" y="6523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de-DE" dirty="0"/>
            </a:p>
          </p:txBody>
        </p:sp>
        <p:sp>
          <p:nvSpPr>
            <p:cNvPr id="6" name="TextBox 10">
              <a:extLst>
                <a:ext uri="{FF2B5EF4-FFF2-40B4-BE49-F238E27FC236}">
                  <a16:creationId xmlns:a16="http://schemas.microsoft.com/office/drawing/2014/main" id="{6511B842-CB25-1AD4-3238-3BC14E294A55}"/>
                </a:ext>
              </a:extLst>
            </p:cNvPr>
            <p:cNvSpPr txBox="1"/>
            <p:nvPr/>
          </p:nvSpPr>
          <p:spPr>
            <a:xfrm>
              <a:off x="0" y="-19050"/>
              <a:ext cx="2422340" cy="671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7" name="TextBox 11">
            <a:extLst>
              <a:ext uri="{FF2B5EF4-FFF2-40B4-BE49-F238E27FC236}">
                <a16:creationId xmlns:a16="http://schemas.microsoft.com/office/drawing/2014/main" id="{5B8F1CDA-04AD-0503-B255-0822D898128D}"/>
              </a:ext>
            </a:extLst>
          </p:cNvPr>
          <p:cNvSpPr txBox="1"/>
          <p:nvPr/>
        </p:nvSpPr>
        <p:spPr>
          <a:xfrm>
            <a:off x="850400" y="3317345"/>
            <a:ext cx="11303992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spcBef>
                <a:spcPct val="0"/>
              </a:spcBef>
            </a:pPr>
            <a:r>
              <a:rPr b="1" sz="3200"/>
              <a:t>VERBESSERUNGEN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52A3A244-60BE-791B-87A5-C6826717A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5177465"/>
            <a:ext cx="9677400" cy="2793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b="0" sz="2400"/>
              <a:t>JSON-basierte Konfiguration: Alle Einstellungen ohne Code-Änderung</a:t>
            </a:r>
          </a:p>
          <a:p>
            <a:r>
              <a:rPr b="0" sz="2400"/>
              <a:t>Admin-Panel: 64 Relais vollständig über Web-UI verwaltbar</a:t>
            </a:r>
          </a:p>
          <a:p>
            <a:r>
              <a:rPr b="0" sz="2400"/>
              <a:t>Stabiler Kiosk-Modus als systemd-Service mit automatischem Neustart</a:t>
            </a:r>
          </a:p>
          <a:p>
            <a:r>
              <a:rPr b="0" sz="2400"/>
              <a:t>Übungsmodus neu: Kategoriebasiert mit automatischer Relais-Aktivierung</a:t>
            </a:r>
          </a:p>
          <a:p>
            <a:r>
              <a:rPr b="0" sz="2400"/>
              <a:t>Excel Import/Export für schnelle Relais-Konfiguration</a:t>
            </a:r>
          </a:p>
          <a:p>
            <a:r>
              <a:rPr b="0" sz="2400"/>
              <a:t>WiFi-Hotspot: Direktzugriff ohne externen Router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C34C0A7-D777-2053-BB8A-361F079CEBA1}"/>
              </a:ext>
            </a:extLst>
          </p:cNvPr>
          <p:cNvSpPr txBox="1"/>
          <p:nvPr/>
        </p:nvSpPr>
        <p:spPr>
          <a:xfrm>
            <a:off x="654049" y="8444645"/>
            <a:ext cx="5680810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b="1"/>
              <a:t>Schritt für Schritt vom Prototyp zum fertigen System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altLang="de-DE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D15F4F5-37E1-9098-BCE1-306D0F5A98D8}"/>
              </a:ext>
            </a:extLst>
          </p:cNvPr>
          <p:cNvSpPr/>
          <p:nvPr/>
        </p:nvSpPr>
        <p:spPr>
          <a:xfrm>
            <a:off x="457200" y="1638300"/>
            <a:ext cx="8686800" cy="1219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5400" b="1" dirty="0"/>
              <a:t>Verbesserungen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FE3A38BD-473C-B7FD-5265-7868F6B8EC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4169" y="573225"/>
            <a:ext cx="2059460" cy="7620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E7AB517A-9934-756F-920F-11EE1F5B0D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30" t="-386" r="34050" b="386"/>
          <a:stretch>
            <a:fillRect/>
          </a:stretch>
        </p:blipFill>
        <p:spPr>
          <a:xfrm>
            <a:off x="13496980" y="1638300"/>
            <a:ext cx="3646640" cy="8267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0E9845BC-B645-0812-E3E2-C3649B2C1109}"/>
              </a:ext>
            </a:extLst>
          </p:cNvPr>
          <p:cNvSpPr/>
          <p:nvPr/>
        </p:nvSpPr>
        <p:spPr>
          <a:xfrm>
            <a:off x="476250" y="8444645"/>
            <a:ext cx="6074508" cy="8720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" name="Group 8">
            <a:extLst>
              <a:ext uri="{FF2B5EF4-FFF2-40B4-BE49-F238E27FC236}">
                <a16:creationId xmlns:a16="http://schemas.microsoft.com/office/drawing/2014/main" id="{1379FC16-07E4-985D-1DA6-20E9E5923AD3}"/>
              </a:ext>
            </a:extLst>
          </p:cNvPr>
          <p:cNvGrpSpPr/>
          <p:nvPr/>
        </p:nvGrpSpPr>
        <p:grpSpPr>
          <a:xfrm>
            <a:off x="457200" y="3268275"/>
            <a:ext cx="11697192" cy="1219199"/>
            <a:chOff x="0" y="0"/>
            <a:chExt cx="2422340" cy="652347"/>
          </a:xfrm>
        </p:grpSpPr>
        <p:sp>
          <p:nvSpPr>
            <p:cNvPr id="5" name="Freeform 9">
              <a:extLst>
                <a:ext uri="{FF2B5EF4-FFF2-40B4-BE49-F238E27FC236}">
                  <a16:creationId xmlns:a16="http://schemas.microsoft.com/office/drawing/2014/main" id="{45636C49-032E-1472-0828-966FF9F53712}"/>
                </a:ext>
              </a:extLst>
            </p:cNvPr>
            <p:cNvSpPr/>
            <p:nvPr/>
          </p:nvSpPr>
          <p:spPr>
            <a:xfrm>
              <a:off x="0" y="0"/>
              <a:ext cx="2422340" cy="652347"/>
            </a:xfrm>
            <a:custGeom>
              <a:avLst/>
              <a:gdLst/>
              <a:ahLst/>
              <a:cxnLst/>
              <a:rect l="l" t="t" r="r" b="b"/>
              <a:pathLst>
                <a:path w="2422340" h="652347">
                  <a:moveTo>
                    <a:pt x="0" y="0"/>
                  </a:moveTo>
                  <a:lnTo>
                    <a:pt x="2422340" y="0"/>
                  </a:lnTo>
                  <a:lnTo>
                    <a:pt x="2422340" y="652347"/>
                  </a:lnTo>
                  <a:lnTo>
                    <a:pt x="0" y="6523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de-DE" dirty="0"/>
            </a:p>
          </p:txBody>
        </p:sp>
        <p:sp>
          <p:nvSpPr>
            <p:cNvPr id="6" name="TextBox 10">
              <a:extLst>
                <a:ext uri="{FF2B5EF4-FFF2-40B4-BE49-F238E27FC236}">
                  <a16:creationId xmlns:a16="http://schemas.microsoft.com/office/drawing/2014/main" id="{6511B842-CB25-1AD4-3238-3BC14E294A55}"/>
                </a:ext>
              </a:extLst>
            </p:cNvPr>
            <p:cNvSpPr txBox="1"/>
            <p:nvPr/>
          </p:nvSpPr>
          <p:spPr>
            <a:xfrm>
              <a:off x="0" y="-19050"/>
              <a:ext cx="2422340" cy="671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7" name="TextBox 11">
            <a:extLst>
              <a:ext uri="{FF2B5EF4-FFF2-40B4-BE49-F238E27FC236}">
                <a16:creationId xmlns:a16="http://schemas.microsoft.com/office/drawing/2014/main" id="{5B8F1CDA-04AD-0503-B255-0822D898128D}"/>
              </a:ext>
            </a:extLst>
          </p:cNvPr>
          <p:cNvSpPr txBox="1"/>
          <p:nvPr/>
        </p:nvSpPr>
        <p:spPr>
          <a:xfrm>
            <a:off x="850400" y="3317345"/>
            <a:ext cx="11303992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spcBef>
                <a:spcPct val="0"/>
              </a:spcBef>
            </a:pPr>
            <a:r>
              <a:rPr b="1" sz="3200"/>
              <a:t>KOSTENAUFWAND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52A3A244-60BE-791B-87A5-C6826717A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5177465"/>
            <a:ext cx="9677400" cy="2793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b="0" sz="2400"/>
              <a:t>Raspberry Pi 5 (8 GB RAM): ca. 90 €</a:t>
            </a:r>
          </a:p>
          <a:p>
            <a:r>
              <a:rPr b="0" sz="2400"/>
              <a:t>2× Modbus RTU Relaismodul (je 32 Relais): ca. 70 €</a:t>
            </a:r>
          </a:p>
          <a:p>
            <a:r>
              <a:rPr b="0" sz="2400"/>
              <a:t>7"-Touchscreen-Display (DSI): ca. 70 €</a:t>
            </a:r>
          </a:p>
          <a:p>
            <a:r>
              <a:rPr b="0" sz="2400"/>
              <a:t>USB-zu-RS485-Adapter: ca. 15 €</a:t>
            </a:r>
          </a:p>
          <a:p>
            <a:r>
              <a:rPr b="0" sz="2400"/>
              <a:t>Stromversorgung &amp; Gehäuse: ca. 50 €</a:t>
            </a:r>
          </a:p>
          <a:p>
            <a:r>
              <a:rPr b="0" sz="2400"/>
              <a:t>Gesamtkosten Hardware: ca. 295 €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C34C0A7-D777-2053-BB8A-361F079CEBA1}"/>
              </a:ext>
            </a:extLst>
          </p:cNvPr>
          <p:cNvSpPr txBox="1"/>
          <p:nvPr/>
        </p:nvSpPr>
        <p:spPr>
          <a:xfrm>
            <a:off x="654049" y="8444645"/>
            <a:ext cx="5680810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b="1"/>
              <a:t>Entwicklung: Ausbildungsprojekt – keine externen Kosten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altLang="de-DE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D15F4F5-37E1-9098-BCE1-306D0F5A98D8}"/>
              </a:ext>
            </a:extLst>
          </p:cNvPr>
          <p:cNvSpPr/>
          <p:nvPr/>
        </p:nvSpPr>
        <p:spPr>
          <a:xfrm>
            <a:off x="457200" y="1638300"/>
            <a:ext cx="8686800" cy="1219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5400" b="1" dirty="0"/>
              <a:t>Kostenaufwand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FE3A38BD-473C-B7FD-5265-7868F6B8EC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4169" y="573225"/>
            <a:ext cx="2059460" cy="7620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E7AB517A-9934-756F-920F-11EE1F5B0D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30" t="-386" r="34050" b="386"/>
          <a:stretch>
            <a:fillRect/>
          </a:stretch>
        </p:blipFill>
        <p:spPr>
          <a:xfrm>
            <a:off x="13496980" y="1638300"/>
            <a:ext cx="3646640" cy="8267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0E9845BC-B645-0812-E3E2-C3649B2C1109}"/>
              </a:ext>
            </a:extLst>
          </p:cNvPr>
          <p:cNvSpPr/>
          <p:nvPr/>
        </p:nvSpPr>
        <p:spPr>
          <a:xfrm>
            <a:off x="476250" y="8444645"/>
            <a:ext cx="6074508" cy="8720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" name="Group 8">
            <a:extLst>
              <a:ext uri="{FF2B5EF4-FFF2-40B4-BE49-F238E27FC236}">
                <a16:creationId xmlns:a16="http://schemas.microsoft.com/office/drawing/2014/main" id="{1379FC16-07E4-985D-1DA6-20E9E5923AD3}"/>
              </a:ext>
            </a:extLst>
          </p:cNvPr>
          <p:cNvGrpSpPr/>
          <p:nvPr/>
        </p:nvGrpSpPr>
        <p:grpSpPr>
          <a:xfrm>
            <a:off x="457200" y="3268275"/>
            <a:ext cx="11697192" cy="1219199"/>
            <a:chOff x="0" y="0"/>
            <a:chExt cx="2422340" cy="652347"/>
          </a:xfrm>
        </p:grpSpPr>
        <p:sp>
          <p:nvSpPr>
            <p:cNvPr id="5" name="Freeform 9">
              <a:extLst>
                <a:ext uri="{FF2B5EF4-FFF2-40B4-BE49-F238E27FC236}">
                  <a16:creationId xmlns:a16="http://schemas.microsoft.com/office/drawing/2014/main" id="{45636C49-032E-1472-0828-966FF9F53712}"/>
                </a:ext>
              </a:extLst>
            </p:cNvPr>
            <p:cNvSpPr/>
            <p:nvPr/>
          </p:nvSpPr>
          <p:spPr>
            <a:xfrm>
              <a:off x="0" y="0"/>
              <a:ext cx="2422340" cy="652347"/>
            </a:xfrm>
            <a:custGeom>
              <a:avLst/>
              <a:gdLst/>
              <a:ahLst/>
              <a:cxnLst/>
              <a:rect l="l" t="t" r="r" b="b"/>
              <a:pathLst>
                <a:path w="2422340" h="652347">
                  <a:moveTo>
                    <a:pt x="0" y="0"/>
                  </a:moveTo>
                  <a:lnTo>
                    <a:pt x="2422340" y="0"/>
                  </a:lnTo>
                  <a:lnTo>
                    <a:pt x="2422340" y="652347"/>
                  </a:lnTo>
                  <a:lnTo>
                    <a:pt x="0" y="6523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de-DE" dirty="0"/>
            </a:p>
          </p:txBody>
        </p:sp>
        <p:sp>
          <p:nvSpPr>
            <p:cNvPr id="6" name="TextBox 10">
              <a:extLst>
                <a:ext uri="{FF2B5EF4-FFF2-40B4-BE49-F238E27FC236}">
                  <a16:creationId xmlns:a16="http://schemas.microsoft.com/office/drawing/2014/main" id="{6511B842-CB25-1AD4-3238-3BC14E294A55}"/>
                </a:ext>
              </a:extLst>
            </p:cNvPr>
            <p:cNvSpPr txBox="1"/>
            <p:nvPr/>
          </p:nvSpPr>
          <p:spPr>
            <a:xfrm>
              <a:off x="0" y="-19050"/>
              <a:ext cx="2422340" cy="671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7" name="TextBox 11">
            <a:extLst>
              <a:ext uri="{FF2B5EF4-FFF2-40B4-BE49-F238E27FC236}">
                <a16:creationId xmlns:a16="http://schemas.microsoft.com/office/drawing/2014/main" id="{5B8F1CDA-04AD-0503-B255-0822D898128D}"/>
              </a:ext>
            </a:extLst>
          </p:cNvPr>
          <p:cNvSpPr txBox="1"/>
          <p:nvPr/>
        </p:nvSpPr>
        <p:spPr>
          <a:xfrm>
            <a:off x="850400" y="3317345"/>
            <a:ext cx="11303992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spcBef>
                <a:spcPct val="0"/>
              </a:spcBef>
            </a:pPr>
            <a:r>
              <a:rPr b="1" sz="3200"/>
              <a:t>ENDPRODUKT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52A3A244-60BE-791B-87A5-C6826717A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5177465"/>
            <a:ext cx="9677400" cy="2793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b="0" sz="2400"/>
              <a:t>Web-App auf Raspberry Pi 5 im Kiosk-Modus (7"-Touchscreen)</a:t>
            </a:r>
          </a:p>
          <a:p>
            <a:r>
              <a:rPr b="0" sz="2400"/>
              <a:t>64 Relais über 2 Modbus RTU Module für realistische Prüfszenarien</a:t>
            </a:r>
          </a:p>
          <a:p>
            <a:r>
              <a:rPr b="0" sz="2400"/>
              <a:t>Prüfungsmodus: Vollständiger VDE 0100-600 Ablauf mit Dokumentation</a:t>
            </a:r>
          </a:p>
          <a:p>
            <a:r>
              <a:rPr b="0" sz="2400"/>
              <a:t>Übungsmodus: Automatische Relais-Aktivierung je Messkategorie</a:t>
            </a:r>
          </a:p>
          <a:p>
            <a:r>
              <a:rPr b="0" sz="2400"/>
              <a:t>Admin-Panel: Ohne Programmierkenntnisse vollständig konfigurierbar</a:t>
            </a:r>
          </a:p>
          <a:p>
            <a:r>
              <a:rPr b="0" sz="2400"/>
              <a:t>WiFi-Hotspot: Gerät als eigener Access Point betreibbar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C34C0A7-D777-2053-BB8A-361F079CEBA1}"/>
              </a:ext>
            </a:extLst>
          </p:cNvPr>
          <p:cNvSpPr txBox="1"/>
          <p:nvPr/>
        </p:nvSpPr>
        <p:spPr>
          <a:xfrm>
            <a:off x="654049" y="8444645"/>
            <a:ext cx="5680810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b="1"/>
              <a:t>Einsatzbereit im Elotechnikum – sofort nutzbar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altLang="de-DE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D15F4F5-37E1-9098-BCE1-306D0F5A98D8}"/>
              </a:ext>
            </a:extLst>
          </p:cNvPr>
          <p:cNvSpPr/>
          <p:nvPr/>
        </p:nvSpPr>
        <p:spPr>
          <a:xfrm>
            <a:off x="457200" y="1638300"/>
            <a:ext cx="8686800" cy="1219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5400" b="1" dirty="0"/>
              <a:t>Endprodukt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FE3A38BD-473C-B7FD-5265-7868F6B8EC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4169" y="573225"/>
            <a:ext cx="2059460" cy="7620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E7AB517A-9934-756F-920F-11EE1F5B0D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30" t="-386" r="34050" b="386"/>
          <a:stretch>
            <a:fillRect/>
          </a:stretch>
        </p:blipFill>
        <p:spPr>
          <a:xfrm>
            <a:off x="13496980" y="1638300"/>
            <a:ext cx="3646640" cy="8267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0E9845BC-B645-0812-E3E2-C3649B2C1109}"/>
              </a:ext>
            </a:extLst>
          </p:cNvPr>
          <p:cNvSpPr/>
          <p:nvPr/>
        </p:nvSpPr>
        <p:spPr>
          <a:xfrm>
            <a:off x="476250" y="8444645"/>
            <a:ext cx="6074508" cy="8720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" name="Group 8">
            <a:extLst>
              <a:ext uri="{FF2B5EF4-FFF2-40B4-BE49-F238E27FC236}">
                <a16:creationId xmlns:a16="http://schemas.microsoft.com/office/drawing/2014/main" id="{1379FC16-07E4-985D-1DA6-20E9E5923AD3}"/>
              </a:ext>
            </a:extLst>
          </p:cNvPr>
          <p:cNvGrpSpPr/>
          <p:nvPr/>
        </p:nvGrpSpPr>
        <p:grpSpPr>
          <a:xfrm>
            <a:off x="457200" y="3268275"/>
            <a:ext cx="11697192" cy="1219199"/>
            <a:chOff x="0" y="0"/>
            <a:chExt cx="2422340" cy="652347"/>
          </a:xfrm>
        </p:grpSpPr>
        <p:sp>
          <p:nvSpPr>
            <p:cNvPr id="5" name="Freeform 9">
              <a:extLst>
                <a:ext uri="{FF2B5EF4-FFF2-40B4-BE49-F238E27FC236}">
                  <a16:creationId xmlns:a16="http://schemas.microsoft.com/office/drawing/2014/main" id="{45636C49-032E-1472-0828-966FF9F53712}"/>
                </a:ext>
              </a:extLst>
            </p:cNvPr>
            <p:cNvSpPr/>
            <p:nvPr/>
          </p:nvSpPr>
          <p:spPr>
            <a:xfrm>
              <a:off x="0" y="0"/>
              <a:ext cx="2422340" cy="652347"/>
            </a:xfrm>
            <a:custGeom>
              <a:avLst/>
              <a:gdLst/>
              <a:ahLst/>
              <a:cxnLst/>
              <a:rect l="l" t="t" r="r" b="b"/>
              <a:pathLst>
                <a:path w="2422340" h="652347">
                  <a:moveTo>
                    <a:pt x="0" y="0"/>
                  </a:moveTo>
                  <a:lnTo>
                    <a:pt x="2422340" y="0"/>
                  </a:lnTo>
                  <a:lnTo>
                    <a:pt x="2422340" y="652347"/>
                  </a:lnTo>
                  <a:lnTo>
                    <a:pt x="0" y="6523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de-DE" dirty="0"/>
            </a:p>
          </p:txBody>
        </p:sp>
        <p:sp>
          <p:nvSpPr>
            <p:cNvPr id="6" name="TextBox 10">
              <a:extLst>
                <a:ext uri="{FF2B5EF4-FFF2-40B4-BE49-F238E27FC236}">
                  <a16:creationId xmlns:a16="http://schemas.microsoft.com/office/drawing/2014/main" id="{6511B842-CB25-1AD4-3238-3BC14E294A55}"/>
                </a:ext>
              </a:extLst>
            </p:cNvPr>
            <p:cNvSpPr txBox="1"/>
            <p:nvPr/>
          </p:nvSpPr>
          <p:spPr>
            <a:xfrm>
              <a:off x="0" y="-19050"/>
              <a:ext cx="2422340" cy="671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7" name="TextBox 11">
            <a:extLst>
              <a:ext uri="{FF2B5EF4-FFF2-40B4-BE49-F238E27FC236}">
                <a16:creationId xmlns:a16="http://schemas.microsoft.com/office/drawing/2014/main" id="{5B8F1CDA-04AD-0503-B255-0822D898128D}"/>
              </a:ext>
            </a:extLst>
          </p:cNvPr>
          <p:cNvSpPr txBox="1"/>
          <p:nvPr/>
        </p:nvSpPr>
        <p:spPr>
          <a:xfrm>
            <a:off x="850400" y="3317345"/>
            <a:ext cx="11303992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spcBef>
                <a:spcPct val="0"/>
              </a:spcBef>
            </a:pPr>
            <a:r>
              <a:rPr b="1" sz="3200"/>
              <a:t>ENTWICKLUNGSMÖGLICHKEITEN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52A3A244-60BE-791B-87A5-C6826717A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5177465"/>
            <a:ext cx="9677400" cy="2793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b="0" sz="2400"/>
              <a:t>Erweiterung auf Betriebstechnik: Prüfung gewerblicher Anlagen (VDE 0105)</a:t>
            </a:r>
          </a:p>
          <a:p>
            <a:r>
              <a:rPr b="0" sz="2400"/>
              <a:t>Sicherheitstechnik: Prüfszenarien für Sicherheitsstromversorgungen &amp; RCD-Typen</a:t>
            </a:r>
          </a:p>
          <a:p>
            <a:r>
              <a:rPr b="0" sz="2400"/>
              <a:t>Wallbox-Prüfung: Spezielle Messungen nach VDE-AR-N 4100 (Ladesäulen)</a:t>
            </a:r>
          </a:p>
          <a:p>
            <a:r>
              <a:rPr b="0" sz="2400"/>
              <a:t>Erweiterung der Relais-Module für komplexere Netzstrukturen</a:t>
            </a:r>
          </a:p>
          <a:p>
            <a:r>
              <a:rPr b="0" sz="2400"/>
              <a:t>Prüfszenarien für Photovoltaikanlagen (VDE 0100-712)</a:t>
            </a:r>
          </a:p>
          <a:p>
            <a:r>
              <a:rPr b="0" sz="2400"/>
              <a:t>Zusätzliche Fehlersimulationen: Erdschlüsse, Leitungsunterbrechungen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C34C0A7-D777-2053-BB8A-361F079CEBA1}"/>
              </a:ext>
            </a:extLst>
          </p:cNvPr>
          <p:cNvSpPr txBox="1"/>
          <p:nvPr/>
        </p:nvSpPr>
        <p:spPr>
          <a:xfrm>
            <a:off x="654049" y="8444645"/>
            <a:ext cx="5680810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b="1"/>
              <a:t>Offenes, modulares System – anpassbar an neue Ausbildungsinhalte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altLang="de-DE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D15F4F5-37E1-9098-BCE1-306D0F5A98D8}"/>
              </a:ext>
            </a:extLst>
          </p:cNvPr>
          <p:cNvSpPr/>
          <p:nvPr/>
        </p:nvSpPr>
        <p:spPr>
          <a:xfrm>
            <a:off x="457200" y="1638300"/>
            <a:ext cx="8686800" cy="1219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5400" b="1" dirty="0"/>
              <a:t>Entwicklungsmöglichkeiten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FE3A38BD-473C-B7FD-5265-7868F6B8EC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4169" y="573225"/>
            <a:ext cx="2059460" cy="7620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E7AB517A-9934-756F-920F-11EE1F5B0D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30" t="-386" r="34050" b="386"/>
          <a:stretch>
            <a:fillRect/>
          </a:stretch>
        </p:blipFill>
        <p:spPr>
          <a:xfrm>
            <a:off x="13496980" y="1638300"/>
            <a:ext cx="3646640" cy="82677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0E9845BC-B645-0812-E3E2-C3649B2C1109}"/>
              </a:ext>
            </a:extLst>
          </p:cNvPr>
          <p:cNvSpPr/>
          <p:nvPr/>
        </p:nvSpPr>
        <p:spPr>
          <a:xfrm>
            <a:off x="476250" y="8444645"/>
            <a:ext cx="6074508" cy="8720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" name="Group 8">
            <a:extLst>
              <a:ext uri="{FF2B5EF4-FFF2-40B4-BE49-F238E27FC236}">
                <a16:creationId xmlns:a16="http://schemas.microsoft.com/office/drawing/2014/main" id="{1379FC16-07E4-985D-1DA6-20E9E5923AD3}"/>
              </a:ext>
            </a:extLst>
          </p:cNvPr>
          <p:cNvGrpSpPr/>
          <p:nvPr/>
        </p:nvGrpSpPr>
        <p:grpSpPr>
          <a:xfrm>
            <a:off x="457200" y="3268275"/>
            <a:ext cx="11697192" cy="1219199"/>
            <a:chOff x="0" y="0"/>
            <a:chExt cx="2422340" cy="652347"/>
          </a:xfrm>
        </p:grpSpPr>
        <p:sp>
          <p:nvSpPr>
            <p:cNvPr id="5" name="Freeform 9">
              <a:extLst>
                <a:ext uri="{FF2B5EF4-FFF2-40B4-BE49-F238E27FC236}">
                  <a16:creationId xmlns:a16="http://schemas.microsoft.com/office/drawing/2014/main" id="{45636C49-032E-1472-0828-966FF9F53712}"/>
                </a:ext>
              </a:extLst>
            </p:cNvPr>
            <p:cNvSpPr/>
            <p:nvPr/>
          </p:nvSpPr>
          <p:spPr>
            <a:xfrm>
              <a:off x="0" y="0"/>
              <a:ext cx="2422340" cy="652347"/>
            </a:xfrm>
            <a:custGeom>
              <a:avLst/>
              <a:gdLst/>
              <a:ahLst/>
              <a:cxnLst/>
              <a:rect l="l" t="t" r="r" b="b"/>
              <a:pathLst>
                <a:path w="2422340" h="652347">
                  <a:moveTo>
                    <a:pt x="0" y="0"/>
                  </a:moveTo>
                  <a:lnTo>
                    <a:pt x="2422340" y="0"/>
                  </a:lnTo>
                  <a:lnTo>
                    <a:pt x="2422340" y="652347"/>
                  </a:lnTo>
                  <a:lnTo>
                    <a:pt x="0" y="6523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de-DE" dirty="0"/>
            </a:p>
          </p:txBody>
        </p:sp>
        <p:sp>
          <p:nvSpPr>
            <p:cNvPr id="6" name="TextBox 10">
              <a:extLst>
                <a:ext uri="{FF2B5EF4-FFF2-40B4-BE49-F238E27FC236}">
                  <a16:creationId xmlns:a16="http://schemas.microsoft.com/office/drawing/2014/main" id="{6511B842-CB25-1AD4-3238-3BC14E294A55}"/>
                </a:ext>
              </a:extLst>
            </p:cNvPr>
            <p:cNvSpPr txBox="1"/>
            <p:nvPr/>
          </p:nvSpPr>
          <p:spPr>
            <a:xfrm>
              <a:off x="0" y="-19050"/>
              <a:ext cx="2422340" cy="671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7" name="TextBox 11">
            <a:extLst>
              <a:ext uri="{FF2B5EF4-FFF2-40B4-BE49-F238E27FC236}">
                <a16:creationId xmlns:a16="http://schemas.microsoft.com/office/drawing/2014/main" id="{5B8F1CDA-04AD-0503-B255-0822D898128D}"/>
              </a:ext>
            </a:extLst>
          </p:cNvPr>
          <p:cNvSpPr txBox="1"/>
          <p:nvPr/>
        </p:nvSpPr>
        <p:spPr>
          <a:xfrm>
            <a:off x="850400" y="3317345"/>
            <a:ext cx="11303992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spcBef>
                <a:spcPct val="0"/>
              </a:spcBef>
            </a:pPr>
            <a:r>
              <a:rPr b="1" sz="3200"/>
              <a:t>FAZIT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52A3A244-60BE-791B-87A5-C6826717A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5177465"/>
            <a:ext cx="9677400" cy="2793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b="0" sz="2400"/>
              <a:t>Erfolgreich entwickeltes digitales Trainings- &amp; Prüfungssystem</a:t>
            </a:r>
          </a:p>
          <a:p>
            <a:r>
              <a:rPr b="0" sz="2400"/>
              <a:t>Ersetzt aufwändiges manuelles Verkabeln bei VDE-Prüfungen</a:t>
            </a:r>
          </a:p>
          <a:p>
            <a:r>
              <a:rPr b="0" sz="2400"/>
              <a:t>Modulares System – erweiterbar durch Software-Updates</a:t>
            </a:r>
          </a:p>
          <a:p>
            <a:r>
              <a:rPr b="0" sz="2400"/>
              <a:t>Wertvolle Erfahrungen in Software- und Hardware-Integration</a:t>
            </a:r>
          </a:p>
          <a:p>
            <a:r>
              <a:rPr b="0" sz="2400"/>
              <a:t>Sinnvoller Beitrag zur modernen Berufsausbildung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C34C0A7-D777-2053-BB8A-361F079CEBA1}"/>
              </a:ext>
            </a:extLst>
          </p:cNvPr>
          <p:cNvSpPr txBox="1"/>
          <p:nvPr/>
        </p:nvSpPr>
        <p:spPr>
          <a:xfrm>
            <a:off x="654049" y="8444645"/>
            <a:ext cx="5680810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b="1"/>
              <a:t>Vielen Dank für Ihre Aufmerksamkeit!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altLang="de-DE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D15F4F5-37E1-9098-BCE1-306D0F5A98D8}"/>
              </a:ext>
            </a:extLst>
          </p:cNvPr>
          <p:cNvSpPr/>
          <p:nvPr/>
        </p:nvSpPr>
        <p:spPr>
          <a:xfrm>
            <a:off x="457200" y="1638300"/>
            <a:ext cx="8686800" cy="1219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5400" b="1" dirty="0"/>
              <a:t>Fazit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FE3A38BD-473C-B7FD-5265-7868F6B8EC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4169" y="573225"/>
            <a:ext cx="2059460" cy="7620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E7AB517A-9934-756F-920F-11EE1F5B0D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30" t="-386" r="34050" b="386"/>
          <a:stretch>
            <a:fillRect/>
          </a:stretch>
        </p:blipFill>
        <p:spPr>
          <a:xfrm>
            <a:off x="13496980" y="1638300"/>
            <a:ext cx="3646640" cy="8267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58bc058-7fdb-4923-9f94-a6877cabe5d0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501F0961139784BA7B44488AAC0EF76" ma:contentTypeVersion="12" ma:contentTypeDescription="Ein neues Dokument erstellen." ma:contentTypeScope="" ma:versionID="7d269af5e8e02c24f59334212c29d50b">
  <xsd:schema xmlns:xsd="http://www.w3.org/2001/XMLSchema" xmlns:xs="http://www.w3.org/2001/XMLSchema" xmlns:p="http://schemas.microsoft.com/office/2006/metadata/properties" xmlns:ns2="558bc058-7fdb-4923-9f94-a6877cabe5d0" targetNamespace="http://schemas.microsoft.com/office/2006/metadata/properties" ma:root="true" ma:fieldsID="2774fffd894442b11e5b1577c3cce28a" ns2:_="">
    <xsd:import namespace="558bc058-7fdb-4923-9f94-a6877cabe5d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8bc058-7fdb-4923-9f94-a6877cabe5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624c4e25-0904-4ba6-8b82-eabc4f2003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CD4CA36-5F99-49DF-9A59-8C4F6F417B12}">
  <ds:schemaRefs>
    <ds:schemaRef ds:uri="http://schemas.microsoft.com/office/2006/metadata/properties"/>
    <ds:schemaRef ds:uri="http://schemas.microsoft.com/office/infopath/2007/PartnerControls"/>
    <ds:schemaRef ds:uri="558bc058-7fdb-4923-9f94-a6877cabe5d0"/>
  </ds:schemaRefs>
</ds:datastoreItem>
</file>

<file path=customXml/itemProps2.xml><?xml version="1.0" encoding="utf-8"?>
<ds:datastoreItem xmlns:ds="http://schemas.openxmlformats.org/officeDocument/2006/customXml" ds:itemID="{387DDDDF-9ED3-4DE9-A846-EF344852AC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58bc058-7fdb-4923-9f94-a6877cabe5d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0F85274-A5E4-4243-BC60-2CA62E7C8B5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</Words>
  <Application>Microsoft Office PowerPoint</Application>
  <PresentationFormat>Benutzerdefiniert</PresentationFormat>
  <Paragraphs>45</Paragraphs>
  <Slides>6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7" baseType="lpstr"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Azubipräsentation</dc:title>
  <dc:creator>Günther, Julia</dc:creator>
  <cp:lastModifiedBy>J B</cp:lastModifiedBy>
  <cp:revision>38</cp:revision>
  <dcterms:created xsi:type="dcterms:W3CDTF">2006-08-16T00:00:00Z</dcterms:created>
  <dcterms:modified xsi:type="dcterms:W3CDTF">2026-03-26T15:01:04Z</dcterms:modified>
  <dc:identifier>DAHAdcRWQyE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0x0101009501F0961139784BA7B44488AAC0EF76</vt:lpwstr>
  </property>
</Properties>
</file>